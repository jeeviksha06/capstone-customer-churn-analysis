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13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412" y="4036665"/>
            <a:ext cx="2543175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37967" y="2345084"/>
            <a:ext cx="851606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200" i="0" u="none">
                <a:solidFill>
                  <a:srgbClr val="FFFFFF"/>
                </a:solidFill>
                <a:latin typeface="Plus Jakarta Sans ExtraBold"/>
              </a:rPr>
              <a:t>CUSTOMER CHURN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9012" y="3164234"/>
            <a:ext cx="51339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8BDF8"/>
                </a:solidFill>
                <a:latin typeface="Inter SemiBold"/>
              </a:rPr>
              <a:t>Capstone Project - Data Science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94707"/>
            <a:ext cx="5334000" cy="17639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7171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Company is losing customers (churn):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Current benchmark reflects a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10.6% churn rate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71812"/>
            <a:ext cx="4991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Identify Churn Drivers: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Need to pinpoint specific operational and behavioural features driving customer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76712"/>
            <a:ext cx="49911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Strategic Goal: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Provide actionable, data-backed retention recommendations to improve customer lifetime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3195" y="3466207"/>
            <a:ext cx="488061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B2545"/>
                </a:solidFill>
                <a:latin typeface="Plus Jakarta Sans"/>
              </a:rPr>
              <a:t>10.6% Churn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828157"/>
            <a:ext cx="46482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Unaddressed churn directly erodes recurring revenue and increases new customer acquisition costs.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0505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051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10050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THE BUSINESS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3530500" cy="25564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1171575"/>
            <a:ext cx="3530649" cy="25564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171575"/>
            <a:ext cx="3530500" cy="25564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447800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133600"/>
            <a:ext cx="138017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500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14600"/>
            <a:ext cx="2978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Detailed dataset consisting of 500 unique customer profiles and activity logs.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825" y="1447800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825" y="2133600"/>
            <a:ext cx="110013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9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2514600"/>
            <a:ext cx="297819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Includes Tenure, Charges, Contract type, Payment method, and key service attributes.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075" y="1447800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075" y="2133600"/>
            <a:ext cx="117014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Clean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075" y="2514600"/>
            <a:ext cx="2978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Fully preprocessed with zero missing values or duplicate records, ensuring high model reliability.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1590675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700" y="159067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4662" y="1590675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DATASET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1266825"/>
            <a:ext cx="1053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Data Cleaning: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Rigorously verified data quality, checked for anomalies, missing values, and structure consistency.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" y="1781175"/>
            <a:ext cx="105346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Exploratory Analysis: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Visualized underlying patterns, feature distributions, and bivariate relationships with customer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2600325"/>
            <a:ext cx="105346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Statistical Testing: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Applied quantitative statistical hypothesis tests to validate key analytical findings and driver importance.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26682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8117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60032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METHODOLOGY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641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813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10.6%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of total customers churned.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766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89.4%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of customers successfully retained.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14700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0"/>
            <a:ext cx="19050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OVERALL CHURN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641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336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Month-to-month: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20.6% Churn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89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One year: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4.3% Churn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242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Two year: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6.9% 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956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Key Takeaway: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Short-term contracts present significantly higher churn risk.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6700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6230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57600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52900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CHURN BY CONTRACT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641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88131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Churned customers: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Average tenure of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6 months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7661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Retained customers: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Average tenure of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40 months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7191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Critical Risk Zone: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New customers represent the highest immediate churn probability.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14650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09950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05250"/>
            <a:ext cx="19050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TENURE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76412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2896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Tenure: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Strongest negative link to churn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(-0.51)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. Longer tenure strongly reduces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2906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Monthly charges: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Weak positive link to churn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(0.11)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2300"/>
            <a:ext cx="23812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62400"/>
            <a:ext cx="14287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CORRELATION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14637"/>
            <a:ext cx="5334000" cy="1924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2891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Statistical Hypothesis Test: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Conducted two-sample T-test on tenure differences.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9012"/>
            <a:ext cx="4991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P-value: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Less than </a:t>
            </a:r>
            <a:r>
              <a:rPr b="1" sz="1500" i="0" u="none">
                <a:solidFill>
                  <a:srgbClr val="1E293B"/>
                </a:solidFill>
                <a:latin typeface="Inter"/>
              </a:rPr>
              <a:t>0.001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(p &lt; 0.001).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4312"/>
            <a:ext cx="49911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Result: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Statistically significant—findings are real and not due to random chance.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00387"/>
            <a:ext cx="4705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0" sz="5400" i="0" u="none">
                <a:solidFill>
                  <a:srgbClr val="0284C7"/>
                </a:solidFill>
                <a:latin typeface="Plus Jakarta Sans ExtraBold"/>
              </a:rPr>
              <a:t>p &lt; 0.001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881437"/>
            <a:ext cx="4705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2545"/>
                </a:solidFill>
                <a:latin typeface="Inter"/>
              </a:rPr>
              <a:t>Statistically Significant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4224337"/>
            <a:ext cx="47053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High confidence in tenure as a primary churn driver.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62250"/>
            <a:ext cx="1428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62350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5765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IS THIS REAL OR RANDOM?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5850" y="1171575"/>
            <a:ext cx="1053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Focus on New Customers: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Implement onboarding support during the critical first 6–12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" y="1685925"/>
            <a:ext cx="1053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Promote Long-term Contracts: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Incentivize month-to-month users to switch to annual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5850" y="2200275"/>
            <a:ext cx="1053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Monitor High-Charge Customers: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Proactively track satisfaction levels for accounts with elevated monthly billing.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5850" y="2714625"/>
            <a:ext cx="1053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1E293B"/>
                </a:solidFill>
                <a:latin typeface="Inter"/>
              </a:rPr>
              <a:t>Targeted Retention Campaigns:</a:t>
            </a:r>
            <a:r>
              <a:rPr b="0" sz="1500" i="0" u="none">
                <a:solidFill>
                  <a:srgbClr val="1E293B"/>
                </a:solidFill>
                <a:latin typeface="Inter Medium"/>
              </a:rPr>
              <a:t> Deploy personalized offers to high-risk customer segments early.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17157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68592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20027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714625"/>
            <a:ext cx="21526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284C7"/>
                </a:solidFill>
                <a:latin typeface="Inter ExtraBold"/>
              </a:rPr>
              <a:t>counter(custom-counter)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71575"/>
            <a:ext cx="3530500" cy="2830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1171575"/>
            <a:ext cx="3530649" cy="2830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171575"/>
            <a:ext cx="3530500" cy="28307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447800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133600"/>
            <a:ext cx="193024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Predictable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514600"/>
            <a:ext cx="29780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Churn is systematic and predictable rather than random, enabling proactive intervention.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825" y="1447800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825" y="2133600"/>
            <a:ext cx="167020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Two 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825" y="2514600"/>
            <a:ext cx="2978199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Contract type and customer tenure stand out as the primary determinants of customer churn risk.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075" y="1447800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075" y="2133600"/>
            <a:ext cx="182022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Clear Action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075" y="2514600"/>
            <a:ext cx="29780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Focusing on onboarding, annual contracts, and targeted retention offers a direct path to reducing churn.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159067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9700" y="159067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8950" y="159067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550" i="0" u="none">
                <a:solidFill>
                  <a:srgbClr val="0B2545"/>
                </a:solidFill>
                <a:latin typeface="Plus Jakarta Sans ExtraBold"/>
              </a:rPr>
              <a:t>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0754" y="2701230"/>
            <a:ext cx="3930491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FFFFF"/>
                </a:solidFill>
                <a:latin typeface="Plus Jakarta Sans Extra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0575" y="3615630"/>
            <a:ext cx="299085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38BDF8"/>
                </a:solidFill>
                <a:latin typeface="Inter Medium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